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 Anything. Retain It Forever. Drive Your Education.</a:t>
            </a:r>
          </a:p>
          <a:p>
            <a:r>
              <a:t>Tags: Collaborative Curriculum Design, AI Professor, Adaptive Testing, Local or Cloud AI Powered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7295" cy="118872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3800" b="1">
                <a:solidFill>
                  <a:srgbClr val="6FD8FF"/>
                </a:solidFill>
                <a:latin typeface="Georgia"/>
              </a:rPr>
              <a:t>AIVU – AI Virtual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566160"/>
            <a:ext cx="11277295" cy="109728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 algn="ctr"/>
            <a:r>
              <a:rPr sz="1600">
                <a:solidFill>
                  <a:srgbClr val="5BC0DE"/>
                </a:solidFill>
                <a:latin typeface="Georgia"/>
              </a:rPr>
              <a:t>The Personal AI-Powered Learning System That Designs, Teaches, Tests, and Tracks Your Mastery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What We'll Cover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The Challenge — why modern learning falls short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Introducing AIVU — what it is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How AIVU Works — the end-to-end flow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Core Features — curriculum, professor, testing, dashboard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Technology — local-first and future-proof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Why AIVU Is a Game-Changer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Why Traditional Learning Falls Short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One-size-fits-all curricula and passive lectures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Information overload and poor long-term retention — the forgetting curve is real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Expensive tutors, or generic AI chatbots that lack structure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No easy way to build deep, personalized mastery on any topic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Self-learners often feel lost choosing what and how to study, and tracking real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Introducing AIVU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What It Is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AIVU is your personal AI-powered Virtual University that works with you, not just for you. It combines: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Collaborative curriculum and lesson plan design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An always-available 1:1 AI Professor — no judgment, infinite patience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 powerful adaptive spaced-repetition testing engine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 personalized progress dashboard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Full support for your own documents (RAG) and custom content</a:t>
            </a:r>
          </a:p>
          <a:p>
            <a:pPr lvl="1"/>
            <a:r>
              <a:rPr sz="1300" b="1">
                <a:solidFill>
                  <a:srgbClr val="4F9D69"/>
                </a:solidFill>
              </a:rPr>
              <a:t>Key differentiator: not just another chatbot — a complete, structured learning ecosystem you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Collaborative Curriculum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Co-Create Your Course With an AI Architect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Built From</a:t>
            </a:r>
          </a:p>
          <a:p>
            <a:r>
              <a:rPr sz="1200">
                <a:solidFill>
                  <a:srgbClr val="C0C0C0"/>
                </a:solidFill>
              </a:rPr>
              <a:t>› The AI's own knowledge base</a:t>
            </a:r>
          </a:p>
          <a:p>
            <a:r>
              <a:rPr sz="1200">
                <a:solidFill>
                  <a:srgbClr val="C0C0C0"/>
                </a:solidFill>
              </a:rPr>
              <a:t>› Reputable internet sources — low-confidence content auto-filtered</a:t>
            </a:r>
          </a:p>
          <a:p>
            <a:r>
              <a:rPr sz="1200">
                <a:solidFill>
                  <a:srgbClr val="C0C0C0"/>
                </a:solidFill>
              </a:rPr>
              <a:t>› Your own documents via RAG (PDFs, notes, books, papers)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Fully Editable</a:t>
            </a:r>
          </a:p>
          <a:p>
            <a:r>
              <a:rPr sz="1200">
                <a:solidFill>
                  <a:srgbClr val="C0C0C0"/>
                </a:solidFill>
              </a:rPr>
              <a:t>› Edit, expand, omit, or adapt anything, anytime</a:t>
            </a:r>
          </a:p>
          <a:p>
            <a:r>
              <a:rPr sz="1200">
                <a:solidFill>
                  <a:srgbClr val="C0C0C0"/>
                </a:solidFill>
              </a:rPr>
              <a:t>› Your curriculum and lesson plan, always in your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251" y="457200"/>
            <a:ext cx="518899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The Socratic AI Professor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Your Always-On 1:1 Tutor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How It Teaches</a:t>
            </a:r>
          </a:p>
          <a:p>
            <a:r>
              <a:rPr sz="1200">
                <a:solidFill>
                  <a:srgbClr val="C0C0C0"/>
                </a:solidFill>
              </a:rPr>
              <a:t>› Available 24/7, one-to-one</a:t>
            </a:r>
          </a:p>
          <a:p>
            <a:r>
              <a:rPr sz="1200">
                <a:solidFill>
                  <a:srgbClr val="C0C0C0"/>
                </a:solidFill>
              </a:rPr>
              <a:t>› Uses the Socratic method for deep understanding and critical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Ask Anything</a:t>
            </a:r>
          </a:p>
          <a:p>
            <a:r>
              <a:rPr sz="1200">
                <a:solidFill>
                  <a:srgbClr val="C0C0C0"/>
                </a:solidFill>
              </a:rPr>
              <a:t>› Clarification, examples, deeper dives — tailored to your level and learning style</a:t>
            </a:r>
          </a:p>
          <a:p>
            <a:r>
              <a:rPr sz="1200">
                <a:solidFill>
                  <a:srgbClr val="C0C0C0"/>
                </a:solidFill>
              </a:rPr>
              <a:t>› No judgment. Never loses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275998"/>
            <a:ext cx="5501487" cy="4306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Robust Adaptive Testing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Spaced Repetition, Built for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Adaptive by Design</a:t>
            </a:r>
          </a:p>
          <a:p>
            <a:r>
              <a:rPr sz="1200">
                <a:solidFill>
                  <a:srgbClr val="C0C0C0"/>
                </a:solidFill>
              </a:rPr>
              <a:t>› Built-in SRS based on proven educational algorithms</a:t>
            </a:r>
          </a:p>
          <a:p>
            <a:r>
              <a:rPr sz="1200">
                <a:solidFill>
                  <a:srgbClr val="C0C0C0"/>
                </a:solidFill>
              </a:rPr>
              <a:t>› Finds your strengths and weaknesses, focuses practice where you need it most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550148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Test On Anything</a:t>
            </a:r>
          </a:p>
          <a:p>
            <a:r>
              <a:rPr sz="1200">
                <a:solidFill>
                  <a:srgbClr val="C0C0C0"/>
                </a:solidFill>
              </a:rPr>
              <a:t>› Your own curriculum and lesson plans</a:t>
            </a:r>
          </a:p>
          <a:p>
            <a:r>
              <a:rPr sz="1200">
                <a:solidFill>
                  <a:srgbClr val="C0C0C0"/>
                </a:solidFill>
              </a:rPr>
              <a:t>› Internet content and your RAG documents</a:t>
            </a:r>
          </a:p>
          <a:p>
            <a:r>
              <a:rPr sz="1200">
                <a:solidFill>
                  <a:srgbClr val="C0C0C0"/>
                </a:solidFill>
              </a:rPr>
              <a:t>› Custom question banks — CSV import supported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342" y="457200"/>
            <a:ext cx="490481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Personalized 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See Your Real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501487" cy="448056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At a Glance</a:t>
            </a:r>
          </a:p>
          <a:p>
            <a:r>
              <a:rPr sz="1200">
                <a:solidFill>
                  <a:srgbClr val="C0C0C0"/>
                </a:solidFill>
              </a:rPr>
              <a:t>› Score trends, accuracy, and best scores over time</a:t>
            </a:r>
          </a:p>
          <a:p>
            <a:r>
              <a:rPr sz="1200">
                <a:solidFill>
                  <a:srgbClr val="C0C0C0"/>
                </a:solidFill>
              </a:rPr>
              <a:t>› Visual insight into curriculums, tests, strengths, and areas needing work</a:t>
            </a:r>
          </a:p>
          <a:p>
            <a:r>
              <a:rPr sz="1200">
                <a:solidFill>
                  <a:srgbClr val="C0C0C0"/>
                </a:solidFill>
              </a:rPr>
              <a:t>› Motivational and actionable data — always current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448056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250" y="457200"/>
            <a:ext cx="5289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How AIVU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The Loop That Builds Mastery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Start a conversation → co-design your curriculum and lesson plan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Study with the Socratic AI Professor — clarify, deepen understanding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Take adaptive SRS tests, on your curriculum or custom content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Review performance on the dashboard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Edit curriculum or request new focus areas, anytime</a:t>
            </a:r>
          </a:p>
          <a:p>
            <a:pPr lvl="1"/>
            <a:r>
              <a:rPr sz="1300">
                <a:solidFill>
                  <a:srgbClr val="C0C0C0"/>
                </a:solidFill>
              </a:rPr>
              <a:t>Repeat → Mastery</a:t>
            </a:r>
          </a:p>
        </p:txBody>
      </p:sp>
      <p:pic>
        <p:nvPicPr>
          <p:cNvPr id="4" name="Picture 3" descr="aivu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2009504"/>
            <a:ext cx="5501487" cy="28389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501487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501487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Local-First &amp; Future-Proof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Local-AI-first design — runs with Ollama, load any model your hardware supports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Full privacy, no recurring costs, works completely offline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Cloud option — seamlessly connect to AWS Bedrock, choose from hundreds of models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Maximum compatibility and future-proofing — switch or upgrade models anytime</a:t>
            </a:r>
          </a:p>
        </p:txBody>
      </p:sp>
      <p:pic>
        <p:nvPicPr>
          <p:cNvPr id="4" name="Picture 3" descr="aiv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883689"/>
            <a:ext cx="5501487" cy="30906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Why AIVU Is a Game-Changer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Key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Truly Personal</a:t>
            </a:r>
          </a:p>
          <a:p>
            <a:r>
              <a:rPr sz="1200">
                <a:solidFill>
                  <a:srgbClr val="C0C0C0"/>
                </a:solidFill>
              </a:rPr>
              <a:t>› Personalized at every layer — curriculum, teaching style, testing, pacing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Built to Stick</a:t>
            </a:r>
          </a:p>
          <a:p>
            <a:r>
              <a:rPr sz="1200">
                <a:solidFill>
                  <a:srgbClr val="C0C0C0"/>
                </a:solidFill>
              </a:rPr>
              <a:t>› Science-backed retention via adaptive spaced repetition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Always-On Expertise</a:t>
            </a:r>
          </a:p>
          <a:p>
            <a:r>
              <a:rPr sz="1200">
                <a:solidFill>
                  <a:srgbClr val="C0C0C0"/>
                </a:solidFill>
              </a:rPr>
              <a:t>› Expert tutor 24/7, zero scheduling or cost barriers — learn literally anything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287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Yours, Fully</a:t>
            </a:r>
          </a:p>
          <a:p>
            <a:r>
              <a:rPr sz="1200">
                <a:solidFill>
                  <a:srgbClr val="C0C0C0"/>
                </a:solidFill>
              </a:rPr>
              <a:t>› Full ownership and control of your data and path — free to run locally, scales with the cloud when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Where AIVU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Career Pivots</a:t>
            </a:r>
          </a:p>
          <a:p>
            <a:r>
              <a:rPr sz="1200">
                <a:solidFill>
                  <a:srgbClr val="C0C0C0"/>
                </a:solidFill>
              </a:rPr>
              <a:t>› Mastering programming, data science, languages, and new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87287" y="192024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Academic &amp; Exam Prep</a:t>
            </a:r>
          </a:p>
          <a:p>
            <a:r>
              <a:rPr sz="1200">
                <a:solidFill>
                  <a:srgbClr val="C0C0C0"/>
                </a:solidFill>
              </a:rPr>
              <a:t>› Deep academic study and serious exam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7287" y="192024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Lifelong Learning &amp; Research</a:t>
            </a:r>
          </a:p>
          <a:p>
            <a:r>
              <a:rPr sz="1200">
                <a:solidFill>
                  <a:srgbClr val="C0C0C0"/>
                </a:solidFill>
              </a:rPr>
              <a:t>› History, philosophy, science, arts — plus research using your own RAG document libraries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7287" y="4297680"/>
            <a:ext cx="5455767" cy="210312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9525">
            <a:solidFill>
              <a:srgbClr val="262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>
            <a:normAutofit/>
          </a:bodyPr>
          <a:lstStyle/>
          <a:p>
            <a:r>
              <a:rPr sz="1400" b="1">
                <a:solidFill>
                  <a:srgbClr val="6FD8FF"/>
                </a:solidFill>
                <a:latin typeface="Georgia"/>
              </a:rPr>
              <a:t>Professional Upskilling</a:t>
            </a:r>
          </a:p>
          <a:p>
            <a:r>
              <a:rPr sz="1200">
                <a:solidFill>
                  <a:srgbClr val="C0C0C0"/>
                </a:solidFill>
              </a:rPr>
              <a:t>› Corporate training and structured expertise, faster than the traditional route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4297680"/>
            <a:ext cx="54864" cy="2103120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r>
              <a:rPr sz="3000" b="1">
                <a:solidFill>
                  <a:srgbClr val="6FD8FF"/>
                </a:solidFill>
                <a:latin typeface="Georgia"/>
              </a:rPr>
              <a:t>AIVU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77295" cy="5120640"/>
          </a:xfrm>
          <a:prstGeom prst="rect">
            <a:avLst/>
          </a:prstGeom>
          <a:noFill/>
        </p:spPr>
        <p:txBody>
          <a:bodyPr wrap="square" lIns="73152" rIns="73152">
            <a:normAutofit/>
          </a:bodyPr>
          <a:lstStyle/>
          <a:p>
            <a:pPr/>
            <a:r>
              <a:rPr sz="1500" b="1">
                <a:solidFill>
                  <a:srgbClr val="5BC0DE"/>
                </a:solidFill>
              </a:rPr>
              <a:t>That's AIVU.</a:t>
            </a:r>
          </a:p>
          <a:p>
            <a:pPr lvl="1" marL="742950" indent="-285750">
              <a:buFont typeface="Arial" panose="020B0604020202020204" pitchFamily="34" charset="0"/>
              <a:buChar char="•"/>
            </a:pPr>
            <a:r>
              <a:rPr sz="1300">
                <a:solidFill>
                  <a:srgbClr val="C0C0C0"/>
                </a:solidFill>
              </a:rPr>
              <a:t>A personal AI university that designs your curriculum, teaches you one-to-one, tests what actually sticks, and shows you the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